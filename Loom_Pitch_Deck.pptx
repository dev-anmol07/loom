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9" d="100"/>
          <a:sy n="79" d="100"/>
        </p:scale>
        <p:origin x="-360" y="-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0471E0-7057-45ED-A31D-B6D91308D029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D49A76-5225-44D4-8402-889D331F4F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40918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49840" y="548640"/>
            <a:ext cx="502920" cy="502920"/>
          </a:xfrm>
          <a:prstGeom prst="ellipse">
            <a:avLst/>
          </a:prstGeom>
          <a:solidFill>
            <a:srgbClr val="273373"/>
          </a:solidFill>
          <a:ln/>
        </p:spPr>
      </p:sp>
      <p:sp>
        <p:nvSpPr>
          <p:cNvPr id="3" name="Text 1"/>
          <p:cNvSpPr/>
          <p:nvPr/>
        </p:nvSpPr>
        <p:spPr>
          <a:xfrm>
            <a:off x="10149840" y="548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450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}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0881360" y="1051560"/>
            <a:ext cx="502920" cy="502920"/>
          </a:xfrm>
          <a:prstGeom prst="ellipse">
            <a:avLst/>
          </a:prstGeom>
          <a:solidFill>
            <a:srgbClr val="273373"/>
          </a:solidFill>
          <a:ln/>
        </p:spPr>
      </p:sp>
      <p:sp>
        <p:nvSpPr>
          <p:cNvPr id="5" name="Text 3"/>
          <p:cNvSpPr/>
          <p:nvPr/>
        </p:nvSpPr>
        <p:spPr>
          <a:xfrm>
            <a:off x="10881360" y="1051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450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}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601200" y="1234440"/>
            <a:ext cx="502920" cy="502920"/>
          </a:xfrm>
          <a:prstGeom prst="ellipse">
            <a:avLst/>
          </a:prstGeom>
          <a:solidFill>
            <a:srgbClr val="273373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0" y="1234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450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}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1155680" y="365760"/>
            <a:ext cx="502920" cy="502920"/>
          </a:xfrm>
          <a:prstGeom prst="ellipse">
            <a:avLst/>
          </a:prstGeom>
          <a:solidFill>
            <a:srgbClr val="273373"/>
          </a:solidFill>
          <a:ln/>
        </p:spPr>
      </p:sp>
      <p:sp>
        <p:nvSpPr>
          <p:cNvPr id="9" name="Text 7"/>
          <p:cNvSpPr/>
          <p:nvPr/>
        </p:nvSpPr>
        <p:spPr>
          <a:xfrm>
            <a:off x="11155680" y="365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450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}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2960" y="1417320"/>
            <a:ext cx="822960" cy="82296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14173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}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822960" y="2468880"/>
            <a:ext cx="9144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LOOM</a:t>
            </a:r>
            <a:endParaRPr lang="en-US" sz="6000" dirty="0"/>
          </a:p>
        </p:txBody>
      </p:sp>
      <p:sp>
        <p:nvSpPr>
          <p:cNvPr id="13" name="Text 11"/>
          <p:cNvSpPr/>
          <p:nvPr/>
        </p:nvSpPr>
        <p:spPr>
          <a:xfrm>
            <a:off x="822960" y="352044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zero-dependency template engine — built from scratch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822960" y="4251960"/>
            <a:ext cx="685800" cy="292608"/>
          </a:xfrm>
          <a:prstGeom prst="roundRect">
            <a:avLst/>
          </a:prstGeom>
          <a:solidFill>
            <a:srgbClr val="F2B134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4251960"/>
            <a:ext cx="685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B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600200" y="425196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AA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Dependency 2026  ·  Parsers &amp; Data Formats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2960" y="6035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dirty="0">
                <a:solidFill>
                  <a:srgbClr val="9AA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Anmol </a:t>
            </a:r>
            <a:r>
              <a:rPr lang="en-US" sz="1300" dirty="0">
                <a:solidFill>
                  <a:srgbClr val="9AA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Singh </a:t>
            </a:r>
            <a:r>
              <a:rPr lang="en-US" sz="1300" dirty="0" smtClean="0">
                <a:solidFill>
                  <a:srgbClr val="9AA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br>
              <a:rPr lang="en-US" sz="1300" dirty="0" smtClean="0">
                <a:solidFill>
                  <a:srgbClr val="9AA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300" dirty="0" smtClean="0">
                <a:solidFill>
                  <a:srgbClr val="9AA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</a:t>
            </a:r>
            <a:r>
              <a:rPr lang="en-US" sz="1300" dirty="0">
                <a:solidFill>
                  <a:srgbClr val="9AA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2026 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Generating dynamic HTML/text means choosing between two bad options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457200" cy="457200"/>
          </a:xfrm>
          <a:prstGeom prst="ellipse">
            <a:avLst/>
          </a:prstGeom>
          <a:solidFill>
            <a:srgbClr val="F4F6F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91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}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34440" y="1645920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in a heavy dependency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34440" y="1984248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Jinja2 / Mako / Django templates work well, but every one is a third-party package — extra install steps, version pinning, supply-chain surface, and a black box you didn't write.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108960"/>
            <a:ext cx="457200" cy="457200"/>
          </a:xfrm>
          <a:prstGeom prst="ellipse">
            <a:avLst/>
          </a:prstGeom>
          <a:solidFill>
            <a:srgbClr val="F4F6FB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3108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}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34440" y="3063240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hand-roll unsafe string concatenation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34440" y="3401568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f-strings and .format() get messy fast: no real logic support, no safe nesting of loops and conditionals, and manual HTML escaping that's easy to forget.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526280"/>
            <a:ext cx="457200" cy="45720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4526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}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34440" y="4480560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fits a zero-dependency constraint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34440" y="4818888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B asks for genuine substitutes for common libraries — not a workaround, and not a library in disguise.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Loom — Zero Dependency 2026, Track B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33856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solution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Loom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39496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lexer → parser → AST → renderer pipeline, not regex substitution</a:t>
            </a:r>
            <a:endParaRPr lang="en-US" sz="1500" dirty="0"/>
          </a:p>
          <a:p>
            <a:pPr marL="342900" indent="-342900">
              <a:lnSpc>
                <a:spcPct val="13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feature set developers already reach for Jinja2 to get: variables, filters, conditionals, loops, inheritance</a:t>
            </a:r>
            <a:endParaRPr lang="en-US" sz="1500" dirty="0"/>
          </a:p>
          <a:p>
            <a:pPr marL="342900" indent="-342900">
              <a:lnSpc>
                <a:spcPct val="13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two imports in the whole engine — re and html — both standard library</a:t>
            </a:r>
            <a:endParaRPr lang="en-US" sz="1500" dirty="0"/>
          </a:p>
          <a:p>
            <a:pPr marL="342900" indent="-342900">
              <a:lnSpc>
                <a:spcPct val="13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file. Drop it in, import Template, call .render(). No pip install.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263640" y="1691640"/>
            <a:ext cx="5349240" cy="4114800"/>
          </a:xfrm>
          <a:prstGeom prst="roundRect">
            <a:avLst>
              <a:gd name="adj" fmla="val 1778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6537960" y="1828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3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template.html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537960" y="2194560"/>
            <a:ext cx="48463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&lt;h1&gt;Hello {{ user.name }}!&lt;/h1&gt;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{% if user.is_admin %}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&lt;p&gt;You have admin access.&lt;/p&gt;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{% endif %}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&lt;ul&gt;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{% for item in items %}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&lt;li&gt;{{ item }}&lt;/li&gt;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{% endfor %}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&lt;/ul&gt;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537960" y="4160520"/>
            <a:ext cx="4846320" cy="0"/>
          </a:xfrm>
          <a:prstGeom prst="line">
            <a:avLst/>
          </a:prstGeom>
          <a:noFill/>
          <a:ln w="12700">
            <a:solidFill>
              <a:srgbClr val="3A458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37960" y="427939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FA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renders to →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537960" y="4572000"/>
            <a:ext cx="48463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2B1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&lt;h1&gt;Hello Anmol!&lt;/h1&gt;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2B1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&lt;p&gt;You have admin access.&lt;/p&gt;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2B1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&lt;ul&gt;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2B1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&lt;li&gt;Pen&lt;/li&gt;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2B1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&lt;li&gt;Book&lt;/li&gt;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2B1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&lt;/ul&gt;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Loom — Zero Dependency 2026, Track B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33856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real compiler stages — the same shape as Jinja2's internals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2331720" cy="137160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33172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Lexer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31520" y="2724912"/>
            <a:ext cx="1965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Scans raw text, tags shapes: TEXT, VAR, TAG — not meaning yet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880360" y="2606040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383280" y="2194560"/>
            <a:ext cx="2331720" cy="137160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3566160" y="233172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Parser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3566160" y="2724912"/>
            <a:ext cx="1965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a real AST: IfNode, ForNode, VarNode — nesting is structural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715000" y="2606040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6217920" y="2194560"/>
            <a:ext cx="2331720" cy="137160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0" y="233172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Renderer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400800" y="2724912"/>
            <a:ext cx="1965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Walks the AST with your context dict, produces the output string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187452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string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217920" y="365760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context dict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17920" y="187452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text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4343400"/>
            <a:ext cx="11064240" cy="1417320"/>
          </a:xfrm>
          <a:prstGeom prst="roundRect">
            <a:avLst>
              <a:gd name="adj" fmla="val 3871"/>
            </a:avLst>
          </a:prstGeom>
          <a:solidFill>
            <a:srgbClr val="F4F6FB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45262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real AST, not string substitution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22960" y="48920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loops and conditionals work correctly, because nesting is a tree — not a flat pattern match.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are precise: “unclosed {% if %} at line 12”, because the parser knows exactly where structure broke.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Loom — Zero Dependency 2026, Track B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33856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Loom supports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Jinja2-equivalent feature set, plus three stretch goals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1600200"/>
          </a:xfrm>
          <a:prstGeom prst="roundRect">
            <a:avLst>
              <a:gd name="adj" fmla="val 3429"/>
            </a:avLst>
          </a:prstGeom>
          <a:solidFill>
            <a:srgbClr val="F4F6FB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87452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8A5B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{{ user.name }}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77240" y="224028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260604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Dotted-path lookup across dicts, objects, and list indices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43400" y="1691640"/>
            <a:ext cx="3520440" cy="1600200"/>
          </a:xfrm>
          <a:prstGeom prst="roundRect">
            <a:avLst>
              <a:gd name="adj" fmla="val 3429"/>
            </a:avLst>
          </a:prstGeom>
          <a:solidFill>
            <a:srgbClr val="F4F6FB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0" y="187452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8A5B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{{ x | upper }}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572000" y="224028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0" y="260604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Chainable, with args — round(2), join(', '), default(...)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138160" y="1691640"/>
            <a:ext cx="3520440" cy="1600200"/>
          </a:xfrm>
          <a:prstGeom prst="roundRect">
            <a:avLst>
              <a:gd name="adj" fmla="val 3429"/>
            </a:avLst>
          </a:prstGeom>
          <a:solidFill>
            <a:srgbClr val="F4F6FB"/>
          </a:solidFill>
          <a:ln/>
        </p:spPr>
      </p:sp>
      <p:sp>
        <p:nvSpPr>
          <p:cNvPr id="13" name="Text 11"/>
          <p:cNvSpPr/>
          <p:nvPr/>
        </p:nvSpPr>
        <p:spPr>
          <a:xfrm>
            <a:off x="8366760" y="187452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8A5B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{% if / elif / else %}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366760" y="224028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66760" y="260604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expression language: comparisons, and/or/not, in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566160"/>
            <a:ext cx="3520440" cy="1600200"/>
          </a:xfrm>
          <a:prstGeom prst="roundRect">
            <a:avLst>
              <a:gd name="adj" fmla="val 3429"/>
            </a:avLst>
          </a:prstGeom>
          <a:solidFill>
            <a:srgbClr val="F4F6FB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74904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8A5B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{% for k, v in d %}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77240" y="411480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77240" y="448056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and dict iteration, with loop.index/first/last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343400" y="3566160"/>
            <a:ext cx="3520440" cy="1600200"/>
          </a:xfrm>
          <a:prstGeom prst="roundRect">
            <a:avLst>
              <a:gd name="adj" fmla="val 3429"/>
            </a:avLst>
          </a:prstGeom>
          <a:solidFill>
            <a:srgbClr val="F4F6FB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0" y="374904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8A5B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{% extends / block %}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572000" y="411480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Inheritance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572000" y="448056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templates override parent blocks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138160" y="3566160"/>
            <a:ext cx="3520440" cy="1600200"/>
          </a:xfrm>
          <a:prstGeom prst="roundRect">
            <a:avLst>
              <a:gd name="adj" fmla="val 3429"/>
            </a:avLst>
          </a:prstGeom>
          <a:solidFill>
            <a:srgbClr val="F4F6FB"/>
          </a:solidFill>
          <a:ln/>
        </p:spPr>
      </p:sp>
      <p:sp>
        <p:nvSpPr>
          <p:cNvPr id="25" name="Text 23"/>
          <p:cNvSpPr/>
          <p:nvPr/>
        </p:nvSpPr>
        <p:spPr>
          <a:xfrm>
            <a:off x="8366760" y="374904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8A5B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{%- trim -%}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8366760" y="411480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Whitespace control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366760" y="448056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Trims stray blank lines from generated HTML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Loom — Zero Dependency 2026, Track B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33856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 &amp; tech stack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standard library only — no pip install required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606040" cy="1600200"/>
          </a:xfrm>
          <a:prstGeom prst="roundRect">
            <a:avLst>
              <a:gd name="adj" fmla="val 3429"/>
            </a:avLst>
          </a:prstGeom>
          <a:solidFill>
            <a:srgbClr val="F4F6F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92024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2606040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</a:t>
            </a:r>
            <a:endParaRPr lang="en-US" sz="11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dependencies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383280" y="1737360"/>
            <a:ext cx="2606040" cy="1600200"/>
          </a:xfrm>
          <a:prstGeom prst="roundRect">
            <a:avLst>
              <a:gd name="adj" fmla="val 3429"/>
            </a:avLst>
          </a:prstGeom>
          <a:solidFill>
            <a:srgbClr val="F4F6FB"/>
          </a:solidFill>
          <a:ln/>
        </p:spPr>
      </p:sp>
      <p:sp>
        <p:nvSpPr>
          <p:cNvPr id="8" name="Text 6"/>
          <p:cNvSpPr/>
          <p:nvPr/>
        </p:nvSpPr>
        <p:spPr>
          <a:xfrm>
            <a:off x="3383280" y="192024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383280" y="2606040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stdlib imports</a:t>
            </a:r>
            <a:endParaRPr lang="en-US" sz="11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(re, html)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17920" y="1737360"/>
            <a:ext cx="2606040" cy="1600200"/>
          </a:xfrm>
          <a:prstGeom prst="roundRect">
            <a:avLst>
              <a:gd name="adj" fmla="val 3429"/>
            </a:avLst>
          </a:prstGeom>
          <a:solidFill>
            <a:srgbClr val="F4F6FB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0" y="192024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~800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6217920" y="2606040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lines,</a:t>
            </a:r>
            <a:endParaRPr lang="en-US" sz="11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file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052560" y="1737360"/>
            <a:ext cx="2606040" cy="1600200"/>
          </a:xfrm>
          <a:prstGeom prst="roundRect">
            <a:avLst>
              <a:gd name="adj" fmla="val 3429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9052560" y="192024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 / 40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9052560" y="2606040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</a:t>
            </a:r>
            <a:endParaRPr lang="en-US" sz="11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passing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48640" y="36576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Stdlib substitutions log</a:t>
            </a:r>
            <a:endParaRPr lang="en-US" sz="14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023360"/>
          <a:ext cx="11064240" cy="2194560"/>
        </p:xfrm>
        <a:graphic>
          <a:graphicData uri="http://schemas.openxmlformats.org/drawingml/2006/table">
            <a:tbl>
              <a:tblPr/>
              <a:tblGrid>
                <a:gridCol w="5212080"/>
                <a:gridCol w="5852160"/>
              </a:tblGrid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Normally uses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Loom uses instead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Jinja2 (the whole engine)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Hand-written lexer + recursive-descent parser + AST renderer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markupsafe (HTML escaping)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html.escape (stdlib)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eval() / simpleeval for {% if %}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Hand-rolled expression tokenizer + parser — no eval anywhere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Filter/pipe framework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Plain dict[str, callable] on Environment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Loom — Zero Dependency 2026, Track B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33856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this is for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Anywhere a templating library is wanted but a hard dependency isn't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1874520"/>
          </a:xfrm>
          <a:prstGeom prst="roundRect">
            <a:avLst>
              <a:gd name="adj" fmla="val 2927"/>
            </a:avLst>
          </a:prstGeom>
          <a:solidFill>
            <a:srgbClr val="F4F6FB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9202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20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}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417320" y="1874520"/>
            <a:ext cx="4251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Dependency-conscious teams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2560320"/>
            <a:ext cx="4892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or supply-chain-sensitive projects that want to audit every line running in production, not vendor a third-party engine.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63640" y="1691640"/>
            <a:ext cx="5349240" cy="1874520"/>
          </a:xfrm>
          <a:prstGeom prst="roundRect">
            <a:avLst>
              <a:gd name="adj" fmla="val 2927"/>
            </a:avLst>
          </a:prstGeom>
          <a:solidFill>
            <a:srgbClr val="F4F6FB"/>
          </a:solidFill>
          <a:ln/>
        </p:spPr>
      </p:sp>
      <p:sp>
        <p:nvSpPr>
          <p:cNvPr id="10" name="Shape 8"/>
          <p:cNvSpPr/>
          <p:nvPr/>
        </p:nvSpPr>
        <p:spPr>
          <a:xfrm>
            <a:off x="6492240" y="19202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1920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}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132320" y="1874520"/>
            <a:ext cx="4251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Constrained / embedded environments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92240" y="2560320"/>
            <a:ext cx="4892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Sandboxes, serverless cold-starts, or restricted deploy targets where pip install isn't an option.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886200"/>
            <a:ext cx="5349240" cy="1874520"/>
          </a:xfrm>
          <a:prstGeom prst="roundRect">
            <a:avLst>
              <a:gd name="adj" fmla="val 2927"/>
            </a:avLst>
          </a:prstGeom>
          <a:solidFill>
            <a:srgbClr val="F4F6FB"/>
          </a:solidFill>
          <a:ln/>
        </p:spPr>
      </p:sp>
      <p:sp>
        <p:nvSpPr>
          <p:cNvPr id="15" name="Shape 13"/>
          <p:cNvSpPr/>
          <p:nvPr/>
        </p:nvSpPr>
        <p:spPr>
          <a:xfrm>
            <a:off x="777240" y="411480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114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}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417320" y="4069080"/>
            <a:ext cx="4251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&amp; educators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77240" y="4754880"/>
            <a:ext cx="4892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readable file that shows exactly how templating libraries work internally — lexer, parser, AST, renderer — as a teaching artifact.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63640" y="3886200"/>
            <a:ext cx="5349240" cy="1874520"/>
          </a:xfrm>
          <a:prstGeom prst="roundRect">
            <a:avLst>
              <a:gd name="adj" fmla="val 2927"/>
            </a:avLst>
          </a:prstGeom>
          <a:solidFill>
            <a:srgbClr val="F4F6FB"/>
          </a:solidFill>
          <a:ln/>
        </p:spPr>
      </p:sp>
      <p:sp>
        <p:nvSpPr>
          <p:cNvPr id="20" name="Shape 18"/>
          <p:cNvSpPr/>
          <p:nvPr/>
        </p:nvSpPr>
        <p:spPr>
          <a:xfrm>
            <a:off x="6492240" y="411480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6492240" y="4114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}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132320" y="4069080"/>
            <a:ext cx="4251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&amp; prototype builders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492240" y="4754880"/>
            <a:ext cx="4892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who wants Jinja2-shaped syntax for quick HTML generation without adding a dependency line to a minimal project.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Loom — Zero Dependency 2026, Track B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33856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impact &amp; scoring fit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to target every bonus challenge in the track, honestly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2103120"/>
          </a:xfrm>
          <a:prstGeom prst="roundRect">
            <a:avLst>
              <a:gd name="adj" fmla="val 2609"/>
            </a:avLst>
          </a:prstGeom>
          <a:solidFill>
            <a:srgbClr val="F4F6FB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87452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+5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77240" y="237744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File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274320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entire engine — lexer, parser, renderer, public API — lives in one loom.py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43400" y="1691640"/>
            <a:ext cx="3520440" cy="2103120"/>
          </a:xfrm>
          <a:prstGeom prst="roundRect">
            <a:avLst>
              <a:gd name="adj" fmla="val 2609"/>
            </a:avLst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0" y="187452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+3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572000" y="237744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Killer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0" y="274320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genuine, drop-in substitute for Jinja2's core feature set, easy to document and adopt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138160" y="1691640"/>
            <a:ext cx="3520440" cy="2103120"/>
          </a:xfrm>
          <a:prstGeom prst="roundRect">
            <a:avLst>
              <a:gd name="adj" fmla="val 2609"/>
            </a:avLst>
          </a:prstGeom>
          <a:solidFill>
            <a:srgbClr val="F4F6FB"/>
          </a:solidFill>
          <a:ln/>
        </p:spPr>
      </p:sp>
      <p:sp>
        <p:nvSpPr>
          <p:cNvPr id="13" name="Text 11"/>
          <p:cNvSpPr/>
          <p:nvPr/>
        </p:nvSpPr>
        <p:spPr>
          <a:xfrm>
            <a:off x="8366760" y="187452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8366760" y="237744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STDLIB Log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66760" y="274320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substitution itemized in STDLIB.md: what a library would do, what stdlib call replaces it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114800"/>
            <a:ext cx="11064240" cy="1600200"/>
          </a:xfrm>
          <a:prstGeom prst="roundRect">
            <a:avLst>
              <a:gd name="adj" fmla="val 3429"/>
            </a:avLst>
          </a:prstGeom>
          <a:solidFill>
            <a:srgbClr val="F4F6FB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2976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holds up under judging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2960" y="461772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eval(), no regex-substitution shortcuts, no hidden dependency — the {% if %} condition language is parsed by a hand-written recursive-descent parser, same as the template syntax itself. Verified by a 40-case test suite covering every feature and every edge case called out in the design spec.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Loom — Zero Dependency 2026, Track B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33856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457200" cy="457200"/>
          </a:xfrm>
          <a:prstGeom prst="ellipse">
            <a:avLst/>
          </a:prstGeom>
          <a:solidFill>
            <a:srgbClr val="27337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450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}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280160" y="1051560"/>
            <a:ext cx="457200" cy="457200"/>
          </a:xfrm>
          <a:prstGeom prst="ellipse">
            <a:avLst/>
          </a:prstGeom>
          <a:solidFill>
            <a:srgbClr val="273373"/>
          </a:solidFill>
          <a:ln/>
        </p:spPr>
      </p:sp>
      <p:sp>
        <p:nvSpPr>
          <p:cNvPr id="5" name="Text 3"/>
          <p:cNvSpPr/>
          <p:nvPr/>
        </p:nvSpPr>
        <p:spPr>
          <a:xfrm>
            <a:off x="1280160" y="1051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450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}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82880" y="1188720"/>
            <a:ext cx="457200" cy="457200"/>
          </a:xfrm>
          <a:prstGeom prst="ellipse">
            <a:avLst/>
          </a:prstGeom>
          <a:solidFill>
            <a:srgbClr val="273373"/>
          </a:solidFill>
          <a:ln/>
        </p:spPr>
      </p:sp>
      <p:sp>
        <p:nvSpPr>
          <p:cNvPr id="7" name="Text 5"/>
          <p:cNvSpPr/>
          <p:nvPr/>
        </p:nvSpPr>
        <p:spPr>
          <a:xfrm>
            <a:off x="182880" y="1188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450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}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394960" y="1965960"/>
            <a:ext cx="1005840" cy="10058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9" name="Text 7"/>
          <p:cNvSpPr/>
          <p:nvPr/>
        </p:nvSpPr>
        <p:spPr>
          <a:xfrm>
            <a:off x="5394960" y="196596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}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822960" y="32004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822960" y="39319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Loom — weaving data into templates, with nothing borrowed.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2960" y="59436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AA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Anmol  </a:t>
            </a:r>
            <a:r>
              <a:rPr lang="en-US" sz="1200">
                <a:solidFill>
                  <a:srgbClr val="9AA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1200" smtClean="0">
                <a:solidFill>
                  <a:srgbClr val="9AA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>
                <a:solidFill>
                  <a:srgbClr val="9AA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Dependency 2026, Track B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966</Words>
  <Application>Microsoft Office PowerPoint</Application>
  <PresentationFormat>Custom</PresentationFormat>
  <Paragraphs>162</Paragraphs>
  <Slides>9</Slides>
  <Notes>9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well</cp:lastModifiedBy>
  <cp:revision>2</cp:revision>
  <dcterms:created xsi:type="dcterms:W3CDTF">2026-08-14T09:25:57Z</dcterms:created>
  <dcterms:modified xsi:type="dcterms:W3CDTF">2026-08-20T16:21:35Z</dcterms:modified>
</cp:coreProperties>
</file>